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4" r:id="rId7"/>
    <p:sldId id="266" r:id="rId8"/>
    <p:sldId id="268" r:id="rId9"/>
    <p:sldId id="269" r:id="rId10"/>
    <p:sldId id="271" r:id="rId11"/>
    <p:sldId id="270" r:id="rId12"/>
  </p:sldIdLst>
  <p:sldSz cx="9144000" cy="5143500" type="screen16x9"/>
  <p:notesSz cx="6858000" cy="9144000"/>
  <p:embeddedFontLst>
    <p:embeddedFont>
      <p:font typeface="Arvo" panose="020B0604020202020204" charset="0"/>
      <p:regular r:id="rId14"/>
      <p:bold r:id="rId15"/>
      <p:italic r:id="rId16"/>
      <p:boldItalic r:id="rId17"/>
    </p:embeddedFont>
    <p:embeddedFont>
      <p:font typeface="Garamond" panose="02020404030301010803" pitchFamily="18" charset="0"/>
      <p:regular r:id="rId18"/>
      <p:bold r:id="rId19"/>
      <p:italic r:id="rId20"/>
    </p:embeddedFon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Montserrat ExtraBold" panose="020B0604020202020204" charset="0"/>
      <p:bold r:id="rId25"/>
      <p:boldItalic r:id="rId26"/>
    </p:embeddedFont>
    <p:embeddedFont>
      <p:font typeface="Montserrat SemiBold" panose="020B0604020202020204" charset="0"/>
      <p:regular r:id="rId27"/>
      <p:bold r:id="rId28"/>
      <p:italic r:id="rId29"/>
      <p:boldItalic r:id="rId30"/>
    </p:embeddedFont>
    <p:embeddedFont>
      <p:font typeface="Proxima Nova Extrabold" panose="020B0604020202020204" charset="0"/>
      <p:bold r:id="rId31"/>
    </p:embeddedFont>
    <p:embeddedFont>
      <p:font typeface="Quicksand Light" panose="020B0604020202020204" charset="0"/>
      <p:regular r:id="rId32"/>
      <p:bold r:id="rId33"/>
    </p:embeddedFont>
    <p:embeddedFont>
      <p:font typeface="Spectral Light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7">
          <p15:clr>
            <a:srgbClr val="A4A3A4"/>
          </p15:clr>
        </p15:guide>
        <p15:guide id="2" pos="5558">
          <p15:clr>
            <a:srgbClr val="A4A3A4"/>
          </p15:clr>
        </p15:guide>
        <p15:guide id="3" pos="1304">
          <p15:clr>
            <a:srgbClr val="A4A3A4"/>
          </p15:clr>
        </p15:guide>
        <p15:guide id="4" orient="horz" pos="1620">
          <p15:clr>
            <a:srgbClr val="A4A3A4"/>
          </p15:clr>
        </p15:guide>
        <p15:guide id="5" orient="horz" pos="2623">
          <p15:clr>
            <a:srgbClr val="A4A3A4"/>
          </p15:clr>
        </p15:guide>
        <p15:guide id="6" pos="4320">
          <p15:clr>
            <a:srgbClr val="A4A3A4"/>
          </p15:clr>
        </p15:guide>
        <p15:guide id="7" pos="3118">
          <p15:clr>
            <a:srgbClr val="A4A3A4"/>
          </p15:clr>
        </p15:guide>
        <p15:guide id="8" pos="2976">
          <p15:clr>
            <a:srgbClr val="A4A3A4"/>
          </p15:clr>
        </p15:guide>
        <p15:guide id="9" orient="horz" pos="590">
          <p15:clr>
            <a:srgbClr val="A4A3A4"/>
          </p15:clr>
        </p15:guide>
        <p15:guide id="10" pos="2268">
          <p15:clr>
            <a:srgbClr val="A4A3A4"/>
          </p15:clr>
        </p15:guide>
        <p15:guide id="11" pos="3902">
          <p15:clr>
            <a:srgbClr val="A4A3A4"/>
          </p15:clr>
        </p15:guide>
        <p15:guide id="12" orient="horz" pos="10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1E36C9-6196-4F78-8852-DB7DA396B33A}">
  <a:tblStyle styleId="{251E36C9-6196-4F78-8852-DB7DA396B3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026" y="516"/>
      </p:cViewPr>
      <p:guideLst>
        <p:guide orient="horz" pos="337"/>
        <p:guide pos="5558"/>
        <p:guide pos="1304"/>
        <p:guide orient="horz" pos="1620"/>
        <p:guide orient="horz" pos="2623"/>
        <p:guide pos="4320"/>
        <p:guide pos="3118"/>
        <p:guide pos="2976"/>
        <p:guide orient="horz" pos="590"/>
        <p:guide pos="2268"/>
        <p:guide pos="3902"/>
        <p:guide orient="horz" pos="10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viewProps" Target="viewProp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74579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e74579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745794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e745794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084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e7457949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e7457949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98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e7457949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e7457949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24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523b52df0_1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523b52df0_1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f8358ba7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f8358ba7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689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e7457949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e7457949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4748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e7457949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e7457949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682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e7457949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de7457949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682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4600"/>
              <a:buNone/>
              <a:defRPr sz="4600">
                <a:solidFill>
                  <a:srgbClr val="25252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 rot="-5400000">
            <a:off x="-1772935" y="1844264"/>
            <a:ext cx="49506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&amp; subtitle slide" type="secHead">
  <p:cSld name="SECTION_HEADER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77425" y="2095075"/>
            <a:ext cx="3942300" cy="1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3300"/>
              <a:buNone/>
              <a:defRPr sz="3300">
                <a:solidFill>
                  <a:srgbClr val="373334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 rot="-5400000">
            <a:off x="-1173125" y="2799675"/>
            <a:ext cx="4615200" cy="924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0" y="0"/>
            <a:ext cx="7115100" cy="5143500"/>
          </a:xfrm>
          <a:prstGeom prst="parallelogram">
            <a:avLst>
              <a:gd name="adj" fmla="val 25000"/>
            </a:avLst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1285900" y="1173400"/>
            <a:ext cx="4736700" cy="4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1285875" y="1991650"/>
            <a:ext cx="4289400" cy="21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pectral Light"/>
              <a:buChar char="⏷"/>
              <a:defRPr sz="14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2 columns slide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726100" y="115775"/>
            <a:ext cx="3528000" cy="21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400"/>
              <a:buNone/>
              <a:defRPr sz="2400">
                <a:solidFill>
                  <a:srgbClr val="20202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3300"/>
              <a:buNone/>
              <a:defRPr sz="3300">
                <a:solidFill>
                  <a:srgbClr val="EFD67E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6" name="Google Shape;56;p11"/>
          <p:cNvSpPr/>
          <p:nvPr/>
        </p:nvSpPr>
        <p:spPr>
          <a:xfrm rot="-5400000">
            <a:off x="-164762" y="3653725"/>
            <a:ext cx="1874100" cy="924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/>
          <p:nvPr/>
        </p:nvSpPr>
        <p:spPr>
          <a:xfrm rot="-5400000">
            <a:off x="3988138" y="3653725"/>
            <a:ext cx="1874100" cy="924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ubTitle" idx="1"/>
          </p:nvPr>
        </p:nvSpPr>
        <p:spPr>
          <a:xfrm>
            <a:off x="1105337" y="2225996"/>
            <a:ext cx="3399300" cy="10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ubTitle" idx="2"/>
          </p:nvPr>
        </p:nvSpPr>
        <p:spPr>
          <a:xfrm>
            <a:off x="1105325" y="3315875"/>
            <a:ext cx="33993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ubTitle" idx="3"/>
          </p:nvPr>
        </p:nvSpPr>
        <p:spPr>
          <a:xfrm>
            <a:off x="5247791" y="2225996"/>
            <a:ext cx="3399300" cy="10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25252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25252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4"/>
          </p:nvPr>
        </p:nvSpPr>
        <p:spPr>
          <a:xfrm>
            <a:off x="5247800" y="3315875"/>
            <a:ext cx="33993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slide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8251984" y="44451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300">
                <a:solidFill>
                  <a:srgbClr val="FFFFFF"/>
                </a:solidFill>
                <a:latin typeface="Quicksand Light"/>
                <a:ea typeface="Quicksand Light"/>
                <a:cs typeface="Quicksand Light"/>
                <a:sym typeface="Quicksand Light"/>
              </a:rPr>
              <a:t>‹#›</a:t>
            </a:fld>
            <a:endParaRPr sz="1300">
              <a:solidFill>
                <a:srgbClr val="FFFFFF"/>
              </a:solidFill>
              <a:latin typeface="Quicksand Light"/>
              <a:ea typeface="Quicksand Light"/>
              <a:cs typeface="Quicksand Light"/>
              <a:sym typeface="Quicksand Light"/>
            </a:endParaRPr>
          </a:p>
        </p:txBody>
      </p:sp>
      <p:sp>
        <p:nvSpPr>
          <p:cNvPr id="108" name="Google Shape;108;p17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96300" y="1198875"/>
            <a:ext cx="50160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/>
          <p:nvPr/>
        </p:nvSpPr>
        <p:spPr>
          <a:xfrm rot="10800000">
            <a:off x="561900" y="4669200"/>
            <a:ext cx="2289600" cy="924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E7FF"/>
              </a:solidFill>
            </a:endParaRPr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1"/>
          </p:nvPr>
        </p:nvSpPr>
        <p:spPr>
          <a:xfrm>
            <a:off x="496300" y="3315875"/>
            <a:ext cx="33432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52525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&amp; title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410675" y="375400"/>
            <a:ext cx="7498800" cy="102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 1">
  <p:cSld name="BLANK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1088275" y="534300"/>
            <a:ext cx="4074600" cy="40752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BED"/>
              </a:solidFill>
            </a:endParaRPr>
          </a:p>
        </p:txBody>
      </p:sp>
      <p:sp>
        <p:nvSpPr>
          <p:cNvPr id="141" name="Google Shape;141;p23"/>
          <p:cNvSpPr/>
          <p:nvPr/>
        </p:nvSpPr>
        <p:spPr>
          <a:xfrm rot="10800000">
            <a:off x="6533400" y="4516800"/>
            <a:ext cx="2289600" cy="924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BED"/>
              </a:solidFill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1088275" y="2571900"/>
            <a:ext cx="2037300" cy="2037600"/>
          </a:xfrm>
          <a:prstGeom prst="rect">
            <a:avLst/>
          </a:prstGeom>
          <a:solidFill>
            <a:srgbClr val="90CC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BED"/>
              </a:solidFill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3125575" y="2571900"/>
            <a:ext cx="2037300" cy="203760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52525"/>
              </a:solidFill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3125575" y="534300"/>
            <a:ext cx="2037300" cy="2037600"/>
          </a:xfrm>
          <a:prstGeom prst="rect">
            <a:avLst/>
          </a:prstGeom>
          <a:solidFill>
            <a:srgbClr val="4888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BBED"/>
              </a:solidFill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5767571" y="2571900"/>
            <a:ext cx="3160800" cy="1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73334"/>
              </a:buClr>
              <a:buSzPts val="5200"/>
              <a:buNone/>
              <a:defRPr sz="5200">
                <a:solidFill>
                  <a:srgbClr val="373334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1"/>
          </p:nvPr>
        </p:nvSpPr>
        <p:spPr>
          <a:xfrm>
            <a:off x="1477900" y="1442400"/>
            <a:ext cx="1542300" cy="11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2"/>
          </p:nvPr>
        </p:nvSpPr>
        <p:spPr>
          <a:xfrm>
            <a:off x="3217775" y="646250"/>
            <a:ext cx="15423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subTitle" idx="3"/>
          </p:nvPr>
        </p:nvSpPr>
        <p:spPr>
          <a:xfrm>
            <a:off x="1240675" y="2571900"/>
            <a:ext cx="15423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4"/>
          </p:nvPr>
        </p:nvSpPr>
        <p:spPr>
          <a:xfrm>
            <a:off x="3468175" y="3341400"/>
            <a:ext cx="1542300" cy="11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 idx="5" hasCustomPrompt="1"/>
          </p:nvPr>
        </p:nvSpPr>
        <p:spPr>
          <a:xfrm rot="-5400000">
            <a:off x="1696225" y="823975"/>
            <a:ext cx="17910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None/>
              <a:defRPr sz="5600" b="1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1" name="Google Shape;151;p23"/>
          <p:cNvSpPr txBox="1">
            <a:spLocks noGrp="1"/>
          </p:cNvSpPr>
          <p:nvPr>
            <p:ph type="title" idx="6" hasCustomPrompt="1"/>
          </p:nvPr>
        </p:nvSpPr>
        <p:spPr>
          <a:xfrm rot="-5400000">
            <a:off x="2622124" y="894450"/>
            <a:ext cx="1982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None/>
              <a:defRPr sz="5600" b="1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3"/>
          <p:cNvSpPr txBox="1">
            <a:spLocks noGrp="1"/>
          </p:cNvSpPr>
          <p:nvPr>
            <p:ph type="title" idx="7" hasCustomPrompt="1"/>
          </p:nvPr>
        </p:nvSpPr>
        <p:spPr>
          <a:xfrm rot="-5400000">
            <a:off x="3645874" y="2230400"/>
            <a:ext cx="1982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None/>
              <a:defRPr sz="5600" b="1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23"/>
          <p:cNvSpPr txBox="1">
            <a:spLocks noGrp="1"/>
          </p:cNvSpPr>
          <p:nvPr>
            <p:ph type="title" idx="8" hasCustomPrompt="1"/>
          </p:nvPr>
        </p:nvSpPr>
        <p:spPr>
          <a:xfrm rot="-5400000">
            <a:off x="593524" y="2942543"/>
            <a:ext cx="1982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None/>
              <a:defRPr sz="5600" b="1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3300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●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○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Spectral Light"/>
              <a:buChar char="■"/>
              <a:defRPr>
                <a:solidFill>
                  <a:srgbClr val="666666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7" r:id="rId4"/>
    <p:sldLayoutId id="2147483663" r:id="rId5"/>
    <p:sldLayoutId id="2147483665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l="13106" t="15681" r="3518" b="17473"/>
          <a:stretch/>
        </p:blipFill>
        <p:spPr>
          <a:xfrm>
            <a:off x="1274675" y="883575"/>
            <a:ext cx="7624521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7240150" cy="31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4500" b="1">
                <a:solidFill>
                  <a:srgbClr val="0070C0"/>
                </a:solidFill>
                <a:latin typeface="Garamond" panose="02020404030301010803" pitchFamily="18" charset="0"/>
              </a:rPr>
              <a:t>REVENUE PREDICTION</a:t>
            </a:r>
            <a:br>
              <a:rPr lang="es" sz="4500" b="1">
                <a:solidFill>
                  <a:srgbClr val="0070C0"/>
                </a:solidFill>
                <a:latin typeface="Garamond" panose="02020404030301010803" pitchFamily="18" charset="0"/>
              </a:rPr>
            </a:br>
            <a:r>
              <a:rPr lang="es" sz="4500" b="1">
                <a:solidFill>
                  <a:srgbClr val="0070C0"/>
                </a:solidFill>
                <a:latin typeface="Garamond" panose="02020404030301010803" pitchFamily="18" charset="0"/>
              </a:rPr>
              <a:t>PROJECT</a:t>
            </a:r>
            <a:endParaRPr sz="4500" b="1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subTitle" idx="1"/>
          </p:nvPr>
        </p:nvSpPr>
        <p:spPr>
          <a:xfrm>
            <a:off x="1220201" y="1208400"/>
            <a:ext cx="1705750" cy="11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rgbClr val="FFFF00"/>
                </a:solidFill>
              </a:rPr>
              <a:t>INTRODUCTION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2"/>
          </p:nvPr>
        </p:nvSpPr>
        <p:spPr>
          <a:xfrm>
            <a:off x="3255873" y="1918400"/>
            <a:ext cx="1542300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1400" b="1">
                <a:solidFill>
                  <a:srgbClr val="FFFF00"/>
                </a:solidFill>
              </a:rPr>
              <a:t>BENEFIT DATA ANALYSIT</a:t>
            </a:r>
            <a:endParaRPr sz="1400" b="1">
              <a:solidFill>
                <a:srgbClr val="FFFF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FFF00"/>
              </a:solidFill>
            </a:endParaRPr>
          </a:p>
        </p:txBody>
      </p:sp>
      <p:sp>
        <p:nvSpPr>
          <p:cNvPr id="190" name="Google Shape;190;p29"/>
          <p:cNvSpPr txBox="1">
            <a:spLocks noGrp="1"/>
          </p:cNvSpPr>
          <p:nvPr>
            <p:ph type="title"/>
          </p:nvPr>
        </p:nvSpPr>
        <p:spPr>
          <a:xfrm>
            <a:off x="5767571" y="2571900"/>
            <a:ext cx="3160800" cy="1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5200">
                <a:solidFill>
                  <a:srgbClr val="252525"/>
                </a:solidFill>
              </a:rPr>
              <a:t>Agend</a:t>
            </a:r>
            <a:r>
              <a:rPr lang="es" sz="5200">
                <a:solidFill>
                  <a:srgbClr val="90CCFA"/>
                </a:solidFill>
              </a:rPr>
              <a:t>a</a:t>
            </a:r>
            <a:endParaRPr sz="5200">
              <a:solidFill>
                <a:srgbClr val="90CCFA"/>
              </a:solidFill>
            </a:endParaRPr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3"/>
          </p:nvPr>
        </p:nvSpPr>
        <p:spPr>
          <a:xfrm>
            <a:off x="1281586" y="2654450"/>
            <a:ext cx="1826375" cy="112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rgbClr val="FFFF00"/>
                </a:solidFill>
              </a:rPr>
              <a:t>OPERATION SYSTEM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92" name="Google Shape;192;p29"/>
          <p:cNvSpPr txBox="1">
            <a:spLocks noGrp="1"/>
          </p:cNvSpPr>
          <p:nvPr>
            <p:ph type="subTitle" idx="4"/>
          </p:nvPr>
        </p:nvSpPr>
        <p:spPr>
          <a:xfrm>
            <a:off x="2687772" y="1918400"/>
            <a:ext cx="1542300" cy="112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 b="1">
                <a:solidFill>
                  <a:srgbClr val="FFFF00"/>
                </a:solidFill>
              </a:rPr>
              <a:t>RESULTS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93" name="Google Shape;193;p29"/>
          <p:cNvSpPr txBox="1">
            <a:spLocks noGrp="1"/>
          </p:cNvSpPr>
          <p:nvPr>
            <p:ph type="title" idx="5"/>
          </p:nvPr>
        </p:nvSpPr>
        <p:spPr>
          <a:xfrm rot="-5400000">
            <a:off x="661775" y="821843"/>
            <a:ext cx="17910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0CCFA"/>
                </a:solidFill>
              </a:rPr>
              <a:t>01</a:t>
            </a:r>
            <a:endParaRPr>
              <a:solidFill>
                <a:srgbClr val="90CCFA"/>
              </a:solidFill>
            </a:endParaRPr>
          </a:p>
        </p:txBody>
      </p:sp>
      <p:sp>
        <p:nvSpPr>
          <p:cNvPr id="194" name="Google Shape;194;p29"/>
          <p:cNvSpPr txBox="1">
            <a:spLocks noGrp="1"/>
          </p:cNvSpPr>
          <p:nvPr>
            <p:ph type="title" idx="6"/>
          </p:nvPr>
        </p:nvSpPr>
        <p:spPr>
          <a:xfrm rot="-5400000">
            <a:off x="4058448" y="245475"/>
            <a:ext cx="140045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52525"/>
                </a:solidFill>
              </a:rPr>
              <a:t>02</a:t>
            </a:r>
            <a:endParaRPr>
              <a:solidFill>
                <a:srgbClr val="252525"/>
              </a:solidFill>
            </a:endParaRPr>
          </a:p>
        </p:txBody>
      </p:sp>
      <p:sp>
        <p:nvSpPr>
          <p:cNvPr id="195" name="Google Shape;195;p29"/>
          <p:cNvSpPr txBox="1">
            <a:spLocks noGrp="1"/>
          </p:cNvSpPr>
          <p:nvPr>
            <p:ph type="title" idx="7"/>
          </p:nvPr>
        </p:nvSpPr>
        <p:spPr>
          <a:xfrm rot="-5400000">
            <a:off x="3645874" y="2230400"/>
            <a:ext cx="1982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</a:t>
            </a:r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title" idx="8"/>
          </p:nvPr>
        </p:nvSpPr>
        <p:spPr>
          <a:xfrm rot="-5400000">
            <a:off x="593524" y="2942543"/>
            <a:ext cx="1982400" cy="12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252525"/>
                </a:solidFill>
              </a:rPr>
              <a:t>03</a:t>
            </a:r>
            <a:endParaRPr>
              <a:solidFill>
                <a:srgbClr val="25252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CA229-1A98-461E-AAE5-2F6AF35C2615}"/>
              </a:ext>
            </a:extLst>
          </p:cNvPr>
          <p:cNvSpPr txBox="1"/>
          <p:nvPr/>
        </p:nvSpPr>
        <p:spPr>
          <a:xfrm>
            <a:off x="6062321" y="1613617"/>
            <a:ext cx="4617720" cy="869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indent="-6350" algn="just">
              <a:lnSpc>
                <a:spcPct val="110000"/>
              </a:lnSpc>
              <a:spcBef>
                <a:spcPts val="0"/>
              </a:spcBef>
              <a:spcAft>
                <a:spcPts val="265"/>
              </a:spcAft>
            </a:pPr>
            <a:r>
              <a:rPr lang="en-US" sz="1400" u="sng">
                <a:solidFill>
                  <a:srgbClr val="1F4E79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Present:</a:t>
            </a:r>
            <a:r>
              <a:rPr lang="en-US" sz="1400">
                <a:solidFill>
                  <a:srgbClr val="1F4E79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	</a:t>
            </a:r>
            <a:r>
              <a:rPr lang="en-US" sz="1400">
                <a:solidFill>
                  <a:srgbClr val="806000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Giang Vo</a:t>
            </a:r>
            <a:endParaRPr lang="en-US" sz="1400">
              <a:solidFill>
                <a:srgbClr val="35374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 algn="just">
              <a:lnSpc>
                <a:spcPct val="110000"/>
              </a:lnSpc>
              <a:spcBef>
                <a:spcPts val="0"/>
              </a:spcBef>
              <a:spcAft>
                <a:spcPts val="265"/>
              </a:spcAft>
            </a:pPr>
            <a:r>
              <a:rPr lang="en-US" sz="1400" u="sng">
                <a:solidFill>
                  <a:srgbClr val="1F4E79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Team:</a:t>
            </a:r>
            <a:r>
              <a:rPr lang="en-US" sz="1400">
                <a:solidFill>
                  <a:srgbClr val="1F4E79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	Data Scientist</a:t>
            </a:r>
            <a:endParaRPr lang="en-US" sz="1400">
              <a:solidFill>
                <a:srgbClr val="35374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0" indent="-6350" algn="just">
              <a:lnSpc>
                <a:spcPct val="110000"/>
              </a:lnSpc>
              <a:spcBef>
                <a:spcPts val="0"/>
              </a:spcBef>
              <a:spcAft>
                <a:spcPts val="265"/>
              </a:spcAft>
            </a:pPr>
            <a:r>
              <a:rPr lang="en-US" sz="1400" u="sng">
                <a:solidFill>
                  <a:srgbClr val="1F4E79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Director:</a:t>
            </a:r>
            <a:r>
              <a:rPr lang="en-US" sz="1400">
                <a:solidFill>
                  <a:srgbClr val="1F4E79"/>
                </a:solidFill>
                <a:effectLst/>
                <a:latin typeface="Garamond" panose="02020404030301010803" pitchFamily="18" charset="0"/>
                <a:ea typeface="Times New Roman" panose="02020603050405020304" pitchFamily="18" charset="0"/>
              </a:rPr>
              <a:t>	Dr. Phuoc, Mn. Thai </a:t>
            </a:r>
            <a:endParaRPr lang="en-US" sz="1400">
              <a:solidFill>
                <a:srgbClr val="353744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l="21224" r="18870"/>
          <a:stretch/>
        </p:blipFill>
        <p:spPr>
          <a:xfrm>
            <a:off x="5962650" y="538275"/>
            <a:ext cx="2857500" cy="4069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>
            <a:spLocks noGrp="1"/>
          </p:cNvSpPr>
          <p:nvPr>
            <p:ph type="title"/>
          </p:nvPr>
        </p:nvSpPr>
        <p:spPr>
          <a:xfrm>
            <a:off x="1477424" y="2095075"/>
            <a:ext cx="4066125" cy="15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rgbClr val="90CCFA"/>
                </a:solidFill>
              </a:rPr>
              <a:t>1.</a:t>
            </a:r>
            <a:r>
              <a:rPr lang="es">
                <a:solidFill>
                  <a:srgbClr val="373334"/>
                </a:solidFill>
              </a:rPr>
              <a:t> </a:t>
            </a:r>
            <a:r>
              <a:rPr lang="es"/>
              <a:t>INTRODUCTION</a:t>
            </a:r>
            <a:endParaRPr>
              <a:solidFill>
                <a:srgbClr val="373334"/>
              </a:solidFill>
            </a:endParaRPr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1"/>
          </p:nvPr>
        </p:nvSpPr>
        <p:spPr>
          <a:xfrm>
            <a:off x="1477425" y="4030950"/>
            <a:ext cx="27702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Revenue Prediction</a:t>
            </a:r>
            <a:endParaRPr>
              <a:solidFill>
                <a:srgbClr val="666666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>
            <a:spLocks noGrp="1"/>
          </p:cNvSpPr>
          <p:nvPr>
            <p:ph type="body" idx="1"/>
          </p:nvPr>
        </p:nvSpPr>
        <p:spPr>
          <a:xfrm>
            <a:off x="1285875" y="1991650"/>
            <a:ext cx="4289400" cy="21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Do you know what helps </a:t>
            </a:r>
            <a:r>
              <a:rPr lang="es">
                <a:solidFill>
                  <a:schemeClr val="lt1"/>
                </a:solidFill>
              </a:rPr>
              <a:t>you </a:t>
            </a:r>
            <a:r>
              <a:rPr lang="es" sz="14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make your point clear? Lists like this one:</a:t>
            </a:r>
            <a:br>
              <a:rPr lang="es" sz="14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</a:br>
            <a:endParaRPr sz="1400"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0CCFA"/>
              </a:buClr>
              <a:buSzPts val="1400"/>
              <a:buFont typeface="Spectral Light"/>
              <a:buChar char="●"/>
            </a:pPr>
            <a:r>
              <a:rPr lang="es" sz="1400" i="1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Because they’re simple </a:t>
            </a:r>
            <a:endParaRPr sz="1400" i="1"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0CCFA"/>
              </a:buClr>
              <a:buSzPts val="1400"/>
              <a:buFont typeface="Spectral Light"/>
              <a:buChar char="●"/>
            </a:pPr>
            <a:r>
              <a:rPr lang="es" sz="1400" i="1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You can organize your ideas clearly</a:t>
            </a:r>
            <a:endParaRPr sz="1400" i="1"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90CCFA"/>
              </a:buClr>
              <a:buSzPts val="1400"/>
              <a:buFont typeface="Spectral Light"/>
              <a:buChar char="●"/>
            </a:pPr>
            <a:r>
              <a:rPr lang="es" sz="1400" i="1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And because you’ll never forget to buy milk!</a:t>
            </a:r>
            <a:endParaRPr sz="1400" i="1"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rPr>
              <a:t>And the most important thing: the audience won’t miss the point of your presentation</a:t>
            </a:r>
            <a:endParaRPr sz="1400">
              <a:solidFill>
                <a:schemeClr val="lt1"/>
              </a:solidFill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1285900" y="1173400"/>
            <a:ext cx="4736700" cy="4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lt1"/>
                </a:solidFill>
              </a:rPr>
              <a:t>The</a:t>
            </a:r>
            <a:r>
              <a:rPr lang="es" sz="22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s" sz="2200">
                <a:solidFill>
                  <a:srgbClr val="90CCF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slide title </a:t>
            </a:r>
            <a:r>
              <a:rPr lang="es" sz="2200">
                <a:solidFill>
                  <a:schemeClr val="lt1"/>
                </a:solidFill>
              </a:rPr>
              <a:t>goes here!</a:t>
            </a:r>
            <a:endParaRPr sz="2200">
              <a:solidFill>
                <a:srgbClr val="90CCF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  <p:pic>
        <p:nvPicPr>
          <p:cNvPr id="1026" name="Picture 2" descr="Chuyên gia phân tích dữ liệu (Data analyst) – Nghề hot của tương lai –  Trung tâm Đào tạo và tư vấn doanh nghiệp">
            <a:extLst>
              <a:ext uri="{FF2B5EF4-FFF2-40B4-BE49-F238E27FC236}">
                <a16:creationId xmlns:a16="http://schemas.microsoft.com/office/drawing/2014/main" id="{6B582E89-6CC1-4795-ABD2-3B62F4B66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4" y="208991"/>
            <a:ext cx="7083425" cy="472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>
            <a:spLocks noGrp="1"/>
          </p:cNvSpPr>
          <p:nvPr>
            <p:ph type="title"/>
          </p:nvPr>
        </p:nvSpPr>
        <p:spPr>
          <a:xfrm>
            <a:off x="694350" y="-570025"/>
            <a:ext cx="3528000" cy="21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>
                <a:solidFill>
                  <a:srgbClr val="252525"/>
                </a:solidFill>
              </a:rPr>
              <a:t>Data Mining</a:t>
            </a:r>
            <a:endParaRPr sz="3200">
              <a:solidFill>
                <a:srgbClr val="252525"/>
              </a:solidFill>
            </a:endParaRPr>
          </a:p>
        </p:txBody>
      </p:sp>
      <p:sp>
        <p:nvSpPr>
          <p:cNvPr id="216" name="Google Shape;216;p32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  <p:sp>
        <p:nvSpPr>
          <p:cNvPr id="218" name="Google Shape;218;p32"/>
          <p:cNvSpPr txBox="1">
            <a:spLocks noGrp="1"/>
          </p:cNvSpPr>
          <p:nvPr>
            <p:ph type="subTitle" idx="4"/>
          </p:nvPr>
        </p:nvSpPr>
        <p:spPr>
          <a:xfrm>
            <a:off x="5247800" y="3315875"/>
            <a:ext cx="3399300" cy="10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Venus has a beautiful name and is the second planet from the Sun. It’s terribly hot—even hotter than Mercury—and its atmosphere is extremely poisonous. It’s the second-brightest natural object in the night sky after the Moon</a:t>
            </a:r>
            <a:endParaRPr/>
          </a:p>
        </p:txBody>
      </p:sp>
      <p:sp>
        <p:nvSpPr>
          <p:cNvPr id="219" name="Google Shape;219;p32"/>
          <p:cNvSpPr txBox="1">
            <a:spLocks noGrp="1"/>
          </p:cNvSpPr>
          <p:nvPr>
            <p:ph type="subTitle" idx="1"/>
          </p:nvPr>
        </p:nvSpPr>
        <p:spPr>
          <a:xfrm>
            <a:off x="1105337" y="2225996"/>
            <a:ext cx="3399300" cy="10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Prediction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subTitle" idx="3"/>
          </p:nvPr>
        </p:nvSpPr>
        <p:spPr>
          <a:xfrm>
            <a:off x="5247791" y="2225996"/>
            <a:ext cx="3399300" cy="10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VENUS</a:t>
            </a:r>
            <a:endParaRPr/>
          </a:p>
        </p:txBody>
      </p:sp>
      <p:pic>
        <p:nvPicPr>
          <p:cNvPr id="2050" name="Picture 2" descr="Revenue vs Income: How Are They Different? | Stock Analysis">
            <a:extLst>
              <a:ext uri="{FF2B5EF4-FFF2-40B4-BE49-F238E27FC236}">
                <a16:creationId xmlns:a16="http://schemas.microsoft.com/office/drawing/2014/main" id="{F9F2961D-DBDB-4492-B54C-5127FD898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779" y="2456274"/>
            <a:ext cx="3896221" cy="220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8EE1263D-CFAF-4067-85A1-90199491DCEF}"/>
              </a:ext>
            </a:extLst>
          </p:cNvPr>
          <p:cNvSpPr>
            <a:spLocks noGrp="1" noChangeAspect="1" noChangeArrowheads="1"/>
          </p:cNvSpPr>
          <p:nvPr>
            <p:ph type="subTitle" idx="2"/>
          </p:nvPr>
        </p:nvSpPr>
        <p:spPr bwMode="auto">
          <a:xfrm>
            <a:off x="1104900" y="3316288"/>
            <a:ext cx="3400425" cy="7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/>
              <a:t>Revenue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Intents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/>
              <a:t>Client behavior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F7751-4E32-49C9-AA28-AEE5351FA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1" y="0"/>
            <a:ext cx="5651500" cy="2462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 face-recognition tech that works even for masked faces - ISRAEL21c">
            <a:extLst>
              <a:ext uri="{FF2B5EF4-FFF2-40B4-BE49-F238E27FC236}">
                <a16:creationId xmlns:a16="http://schemas.microsoft.com/office/drawing/2014/main" id="{9EA7B9FE-0794-407B-B555-7024723F1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950" y="0"/>
            <a:ext cx="38989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Precision-Based Tech Changing Cancer Detection And Treatment - Medical  Product Outsourcing">
            <a:extLst>
              <a:ext uri="{FF2B5EF4-FFF2-40B4-BE49-F238E27FC236}">
                <a16:creationId xmlns:a16="http://schemas.microsoft.com/office/drawing/2014/main" id="{5B1C845C-67FF-4F1F-8DE1-34E3CF0D7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63" y="0"/>
            <a:ext cx="40259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Frontiers | Recognition and Localization Methods for Vision-Based Fruit  Picking Robots: A Review | Plant Science">
            <a:extLst>
              <a:ext uri="{FF2B5EF4-FFF2-40B4-BE49-F238E27FC236}">
                <a16:creationId xmlns:a16="http://schemas.microsoft.com/office/drawing/2014/main" id="{01399631-3A5E-4F1F-B55C-B6CA2B26C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63" y="2195142"/>
            <a:ext cx="4047520" cy="194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anual to Object Detection with Machine Learning | Analytics Insight">
            <a:extLst>
              <a:ext uri="{FF2B5EF4-FFF2-40B4-BE49-F238E27FC236}">
                <a16:creationId xmlns:a16="http://schemas.microsoft.com/office/drawing/2014/main" id="{EBD12FFE-65AE-4A39-9E9A-6C7D446EE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950" y="2286000"/>
            <a:ext cx="38989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7867C8-0C57-4007-AB5A-1CB7C5E496E9}"/>
              </a:ext>
            </a:extLst>
          </p:cNvPr>
          <p:cNvSpPr/>
          <p:nvPr/>
        </p:nvSpPr>
        <p:spPr>
          <a:xfrm>
            <a:off x="577849" y="4298950"/>
            <a:ext cx="3713833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AI Applications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6"/>
          <p:cNvPicPr preferRelativeResize="0"/>
          <p:nvPr/>
        </p:nvPicPr>
        <p:blipFill rotWithShape="1">
          <a:blip r:embed="rId3">
            <a:alphaModFix/>
          </a:blip>
          <a:srcRect l="1146" t="11131" b="9641"/>
          <a:stretch/>
        </p:blipFill>
        <p:spPr>
          <a:xfrm>
            <a:off x="1180675" y="534325"/>
            <a:ext cx="7626956" cy="40748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6"/>
          <p:cNvSpPr/>
          <p:nvPr/>
        </p:nvSpPr>
        <p:spPr>
          <a:xfrm rot="-5400000">
            <a:off x="-1173125" y="2795725"/>
            <a:ext cx="4615200" cy="92400"/>
          </a:xfrm>
          <a:prstGeom prst="rect">
            <a:avLst/>
          </a:prstGeom>
          <a:solidFill>
            <a:srgbClr val="0043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6"/>
          <p:cNvSpPr txBox="1">
            <a:spLocks noGrp="1"/>
          </p:cNvSpPr>
          <p:nvPr>
            <p:ph type="ctrTitle"/>
          </p:nvPr>
        </p:nvSpPr>
        <p:spPr>
          <a:xfrm>
            <a:off x="1516500" y="1001050"/>
            <a:ext cx="6809100" cy="314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4200"/>
              <a:t>2. BENEFITS</a:t>
            </a:r>
            <a:endParaRPr sz="420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2534447" y="1991837"/>
            <a:ext cx="3921574" cy="10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rgbClr val="FFC000"/>
                </a:solidFill>
              </a:rPr>
              <a:t>Revenue</a:t>
            </a:r>
            <a:br>
              <a:rPr lang="es" b="1">
                <a:solidFill>
                  <a:srgbClr val="FFC000"/>
                </a:solidFill>
              </a:rPr>
            </a:br>
            <a:br>
              <a:rPr lang="es" b="1">
                <a:solidFill>
                  <a:srgbClr val="FFC000"/>
                </a:solidFill>
              </a:rPr>
            </a:br>
            <a:r>
              <a:rPr lang="es" b="1">
                <a:solidFill>
                  <a:srgbClr val="FFC000"/>
                </a:solidFill>
              </a:rPr>
              <a:t> Prediction</a:t>
            </a:r>
            <a:endParaRPr b="1">
              <a:solidFill>
                <a:srgbClr val="FFC000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27" name="Google Shape;267;p38">
            <a:extLst>
              <a:ext uri="{FF2B5EF4-FFF2-40B4-BE49-F238E27FC236}">
                <a16:creationId xmlns:a16="http://schemas.microsoft.com/office/drawing/2014/main" id="{9CCFE6BA-F535-45B6-8343-1644C95F592C}"/>
              </a:ext>
            </a:extLst>
          </p:cNvPr>
          <p:cNvGrpSpPr/>
          <p:nvPr/>
        </p:nvGrpSpPr>
        <p:grpSpPr>
          <a:xfrm rot="10800000">
            <a:off x="175520" y="840400"/>
            <a:ext cx="3847140" cy="1128000"/>
            <a:chOff x="5599475" y="763625"/>
            <a:chExt cx="3223525" cy="1128000"/>
          </a:xfrm>
        </p:grpSpPr>
        <p:sp>
          <p:nvSpPr>
            <p:cNvPr id="28" name="Google Shape;268;p38">
              <a:extLst>
                <a:ext uri="{FF2B5EF4-FFF2-40B4-BE49-F238E27FC236}">
                  <a16:creationId xmlns:a16="http://schemas.microsoft.com/office/drawing/2014/main" id="{0A5259C6-BBA7-433D-9A9C-956C5FBF9908}"/>
                </a:ext>
              </a:extLst>
            </p:cNvPr>
            <p:cNvSpPr/>
            <p:nvPr/>
          </p:nvSpPr>
          <p:spPr>
            <a:xfrm>
              <a:off x="5599475" y="763625"/>
              <a:ext cx="2562900" cy="1128000"/>
            </a:xfrm>
            <a:prstGeom prst="leftArrow">
              <a:avLst>
                <a:gd name="adj1" fmla="val 50000"/>
                <a:gd name="adj2" fmla="val 62253"/>
              </a:avLst>
            </a:prstGeom>
            <a:solidFill>
              <a:srgbClr val="90CC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9;p38">
              <a:extLst>
                <a:ext uri="{FF2B5EF4-FFF2-40B4-BE49-F238E27FC236}">
                  <a16:creationId xmlns:a16="http://schemas.microsoft.com/office/drawing/2014/main" id="{F94A19B5-DD4A-401A-AFC1-D10D02E2F458}"/>
                </a:ext>
              </a:extLst>
            </p:cNvPr>
            <p:cNvSpPr/>
            <p:nvPr/>
          </p:nvSpPr>
          <p:spPr>
            <a:xfrm>
              <a:off x="7776300" y="804219"/>
              <a:ext cx="1046700" cy="1046700"/>
            </a:xfrm>
            <a:prstGeom prst="ellipse">
              <a:avLst/>
            </a:prstGeom>
            <a:solidFill>
              <a:srgbClr val="90CC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0;p38">
              <a:extLst>
                <a:ext uri="{FF2B5EF4-FFF2-40B4-BE49-F238E27FC236}">
                  <a16:creationId xmlns:a16="http://schemas.microsoft.com/office/drawing/2014/main" id="{18D918DE-F274-48AA-9C3D-4DD6A6C6EF0A}"/>
                </a:ext>
              </a:extLst>
            </p:cNvPr>
            <p:cNvSpPr/>
            <p:nvPr/>
          </p:nvSpPr>
          <p:spPr>
            <a:xfrm>
              <a:off x="7893354" y="921274"/>
              <a:ext cx="812700" cy="812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271;p38">
            <a:extLst>
              <a:ext uri="{FF2B5EF4-FFF2-40B4-BE49-F238E27FC236}">
                <a16:creationId xmlns:a16="http://schemas.microsoft.com/office/drawing/2014/main" id="{2491321D-B848-4089-A1E4-3C1B1EEC9B41}"/>
              </a:ext>
            </a:extLst>
          </p:cNvPr>
          <p:cNvGrpSpPr/>
          <p:nvPr/>
        </p:nvGrpSpPr>
        <p:grpSpPr>
          <a:xfrm rot="10800000">
            <a:off x="175518" y="2084525"/>
            <a:ext cx="3291581" cy="1128000"/>
            <a:chOff x="5576500" y="2007750"/>
            <a:chExt cx="3246500" cy="11280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32" name="Google Shape;272;p38">
              <a:extLst>
                <a:ext uri="{FF2B5EF4-FFF2-40B4-BE49-F238E27FC236}">
                  <a16:creationId xmlns:a16="http://schemas.microsoft.com/office/drawing/2014/main" id="{C19BE036-25AE-4EE8-BAF6-E58279BD39E1}"/>
                </a:ext>
              </a:extLst>
            </p:cNvPr>
            <p:cNvSpPr/>
            <p:nvPr/>
          </p:nvSpPr>
          <p:spPr>
            <a:xfrm>
              <a:off x="5576500" y="2007750"/>
              <a:ext cx="2562900" cy="1128000"/>
            </a:xfrm>
            <a:prstGeom prst="leftArrow">
              <a:avLst>
                <a:gd name="adj1" fmla="val 50000"/>
                <a:gd name="adj2" fmla="val 62253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3;p38">
              <a:extLst>
                <a:ext uri="{FF2B5EF4-FFF2-40B4-BE49-F238E27FC236}">
                  <a16:creationId xmlns:a16="http://schemas.microsoft.com/office/drawing/2014/main" id="{A804DCD9-2CF1-45B5-B132-B5774905CA5E}"/>
                </a:ext>
              </a:extLst>
            </p:cNvPr>
            <p:cNvSpPr/>
            <p:nvPr/>
          </p:nvSpPr>
          <p:spPr>
            <a:xfrm>
              <a:off x="7776300" y="2048400"/>
              <a:ext cx="1046700" cy="1046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4;p38">
              <a:extLst>
                <a:ext uri="{FF2B5EF4-FFF2-40B4-BE49-F238E27FC236}">
                  <a16:creationId xmlns:a16="http://schemas.microsoft.com/office/drawing/2014/main" id="{77DABED1-8CD3-4E9C-BB1A-0B2069CFDAF6}"/>
                </a:ext>
              </a:extLst>
            </p:cNvPr>
            <p:cNvSpPr/>
            <p:nvPr/>
          </p:nvSpPr>
          <p:spPr>
            <a:xfrm>
              <a:off x="7893354" y="2165455"/>
              <a:ext cx="812700" cy="812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275;p38">
            <a:extLst>
              <a:ext uri="{FF2B5EF4-FFF2-40B4-BE49-F238E27FC236}">
                <a16:creationId xmlns:a16="http://schemas.microsoft.com/office/drawing/2014/main" id="{2F96B529-4976-4F9D-831D-F6DA9ADB2267}"/>
              </a:ext>
            </a:extLst>
          </p:cNvPr>
          <p:cNvGrpSpPr/>
          <p:nvPr/>
        </p:nvGrpSpPr>
        <p:grpSpPr>
          <a:xfrm rot="10800000">
            <a:off x="175520" y="3392845"/>
            <a:ext cx="3847139" cy="1185208"/>
            <a:chOff x="5599475" y="3251875"/>
            <a:chExt cx="3223525" cy="11280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36" name="Google Shape;276;p38">
              <a:extLst>
                <a:ext uri="{FF2B5EF4-FFF2-40B4-BE49-F238E27FC236}">
                  <a16:creationId xmlns:a16="http://schemas.microsoft.com/office/drawing/2014/main" id="{B0E876F0-18AE-45DD-A8C9-29D4C33CE507}"/>
                </a:ext>
              </a:extLst>
            </p:cNvPr>
            <p:cNvSpPr/>
            <p:nvPr/>
          </p:nvSpPr>
          <p:spPr>
            <a:xfrm>
              <a:off x="5599475" y="3251875"/>
              <a:ext cx="2562900" cy="1128000"/>
            </a:xfrm>
            <a:prstGeom prst="leftArrow">
              <a:avLst>
                <a:gd name="adj1" fmla="val 50000"/>
                <a:gd name="adj2" fmla="val 62253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7;p38">
              <a:extLst>
                <a:ext uri="{FF2B5EF4-FFF2-40B4-BE49-F238E27FC236}">
                  <a16:creationId xmlns:a16="http://schemas.microsoft.com/office/drawing/2014/main" id="{72980003-E310-44F7-917C-8F5141109EBA}"/>
                </a:ext>
              </a:extLst>
            </p:cNvPr>
            <p:cNvSpPr/>
            <p:nvPr/>
          </p:nvSpPr>
          <p:spPr>
            <a:xfrm>
              <a:off x="7776300" y="3292581"/>
              <a:ext cx="1046700" cy="1046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8;p38">
              <a:extLst>
                <a:ext uri="{FF2B5EF4-FFF2-40B4-BE49-F238E27FC236}">
                  <a16:creationId xmlns:a16="http://schemas.microsoft.com/office/drawing/2014/main" id="{B00DF289-F57B-4C01-B880-4ACC5085B6B6}"/>
                </a:ext>
              </a:extLst>
            </p:cNvPr>
            <p:cNvSpPr/>
            <p:nvPr/>
          </p:nvSpPr>
          <p:spPr>
            <a:xfrm>
              <a:off x="7893354" y="3409636"/>
              <a:ext cx="812700" cy="812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280;p38">
            <a:extLst>
              <a:ext uri="{FF2B5EF4-FFF2-40B4-BE49-F238E27FC236}">
                <a16:creationId xmlns:a16="http://schemas.microsoft.com/office/drawing/2014/main" id="{1A8B092D-96D1-4604-B8B3-CFAB567951AD}"/>
              </a:ext>
            </a:extLst>
          </p:cNvPr>
          <p:cNvSpPr txBox="1">
            <a:spLocks/>
          </p:cNvSpPr>
          <p:nvPr/>
        </p:nvSpPr>
        <p:spPr>
          <a:xfrm>
            <a:off x="421488" y="2272186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4888DE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02</a:t>
            </a:r>
          </a:p>
        </p:txBody>
      </p:sp>
      <p:sp>
        <p:nvSpPr>
          <p:cNvPr id="40" name="Google Shape;281;p38">
            <a:extLst>
              <a:ext uri="{FF2B5EF4-FFF2-40B4-BE49-F238E27FC236}">
                <a16:creationId xmlns:a16="http://schemas.microsoft.com/office/drawing/2014/main" id="{2C60EC2A-7E3C-420C-982A-22A371090A0A}"/>
              </a:ext>
            </a:extLst>
          </p:cNvPr>
          <p:cNvSpPr txBox="1">
            <a:spLocks/>
          </p:cNvSpPr>
          <p:nvPr/>
        </p:nvSpPr>
        <p:spPr>
          <a:xfrm>
            <a:off x="414042" y="3593391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0043C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03</a:t>
            </a:r>
          </a:p>
        </p:txBody>
      </p:sp>
      <p:sp>
        <p:nvSpPr>
          <p:cNvPr id="41" name="Google Shape;282;p38">
            <a:extLst>
              <a:ext uri="{FF2B5EF4-FFF2-40B4-BE49-F238E27FC236}">
                <a16:creationId xmlns:a16="http://schemas.microsoft.com/office/drawing/2014/main" id="{54B496B5-7E66-46B0-97FD-5D2D96153BF5}"/>
              </a:ext>
            </a:extLst>
          </p:cNvPr>
          <p:cNvSpPr txBox="1">
            <a:spLocks/>
          </p:cNvSpPr>
          <p:nvPr/>
        </p:nvSpPr>
        <p:spPr>
          <a:xfrm rot="10800000">
            <a:off x="3096909" y="1042450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90CCFA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01</a:t>
            </a:r>
          </a:p>
        </p:txBody>
      </p:sp>
      <p:grpSp>
        <p:nvGrpSpPr>
          <p:cNvPr id="71" name="Google Shape;267;p38">
            <a:extLst>
              <a:ext uri="{FF2B5EF4-FFF2-40B4-BE49-F238E27FC236}">
                <a16:creationId xmlns:a16="http://schemas.microsoft.com/office/drawing/2014/main" id="{C2E03D31-8D66-4767-B167-28FC5BAC5CE4}"/>
              </a:ext>
            </a:extLst>
          </p:cNvPr>
          <p:cNvGrpSpPr/>
          <p:nvPr/>
        </p:nvGrpSpPr>
        <p:grpSpPr>
          <a:xfrm>
            <a:off x="4901427" y="763625"/>
            <a:ext cx="3921573" cy="1128000"/>
            <a:chOff x="5599475" y="763625"/>
            <a:chExt cx="3223525" cy="1128000"/>
          </a:xfrm>
        </p:grpSpPr>
        <p:sp>
          <p:nvSpPr>
            <p:cNvPr id="72" name="Google Shape;268;p38">
              <a:extLst>
                <a:ext uri="{FF2B5EF4-FFF2-40B4-BE49-F238E27FC236}">
                  <a16:creationId xmlns:a16="http://schemas.microsoft.com/office/drawing/2014/main" id="{3C8B0921-328F-4883-B28F-08CFA08F03BE}"/>
                </a:ext>
              </a:extLst>
            </p:cNvPr>
            <p:cNvSpPr/>
            <p:nvPr/>
          </p:nvSpPr>
          <p:spPr>
            <a:xfrm>
              <a:off x="5599475" y="763625"/>
              <a:ext cx="2562900" cy="1128000"/>
            </a:xfrm>
            <a:prstGeom prst="leftArrow">
              <a:avLst>
                <a:gd name="adj1" fmla="val 50000"/>
                <a:gd name="adj2" fmla="val 62253"/>
              </a:avLst>
            </a:prstGeom>
            <a:solidFill>
              <a:srgbClr val="90CC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69;p38">
              <a:extLst>
                <a:ext uri="{FF2B5EF4-FFF2-40B4-BE49-F238E27FC236}">
                  <a16:creationId xmlns:a16="http://schemas.microsoft.com/office/drawing/2014/main" id="{CAA21648-40FE-4668-AA3F-1DCD0C086C7A}"/>
                </a:ext>
              </a:extLst>
            </p:cNvPr>
            <p:cNvSpPr/>
            <p:nvPr/>
          </p:nvSpPr>
          <p:spPr>
            <a:xfrm>
              <a:off x="7776300" y="804219"/>
              <a:ext cx="1046700" cy="1046700"/>
            </a:xfrm>
            <a:prstGeom prst="ellipse">
              <a:avLst/>
            </a:prstGeom>
            <a:solidFill>
              <a:srgbClr val="90CC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70;p38">
              <a:extLst>
                <a:ext uri="{FF2B5EF4-FFF2-40B4-BE49-F238E27FC236}">
                  <a16:creationId xmlns:a16="http://schemas.microsoft.com/office/drawing/2014/main" id="{3B764CCF-B36A-4ABE-AB9D-CEADB8F0C184}"/>
                </a:ext>
              </a:extLst>
            </p:cNvPr>
            <p:cNvSpPr/>
            <p:nvPr/>
          </p:nvSpPr>
          <p:spPr>
            <a:xfrm>
              <a:off x="7893354" y="921274"/>
              <a:ext cx="812700" cy="812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271;p38">
            <a:extLst>
              <a:ext uri="{FF2B5EF4-FFF2-40B4-BE49-F238E27FC236}">
                <a16:creationId xmlns:a16="http://schemas.microsoft.com/office/drawing/2014/main" id="{A9F7014C-F0A8-4AEB-A7A3-7B7069FF832A}"/>
              </a:ext>
            </a:extLst>
          </p:cNvPr>
          <p:cNvGrpSpPr/>
          <p:nvPr/>
        </p:nvGrpSpPr>
        <p:grpSpPr>
          <a:xfrm>
            <a:off x="5368092" y="2007750"/>
            <a:ext cx="3454908" cy="1128000"/>
            <a:chOff x="5576500" y="2007750"/>
            <a:chExt cx="3246500" cy="11280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76" name="Google Shape;272;p38">
              <a:extLst>
                <a:ext uri="{FF2B5EF4-FFF2-40B4-BE49-F238E27FC236}">
                  <a16:creationId xmlns:a16="http://schemas.microsoft.com/office/drawing/2014/main" id="{1749C1F6-BFB7-4B73-BC2E-557342097ED6}"/>
                </a:ext>
              </a:extLst>
            </p:cNvPr>
            <p:cNvSpPr/>
            <p:nvPr/>
          </p:nvSpPr>
          <p:spPr>
            <a:xfrm>
              <a:off x="5576500" y="2007750"/>
              <a:ext cx="2562900" cy="1128000"/>
            </a:xfrm>
            <a:prstGeom prst="leftArrow">
              <a:avLst>
                <a:gd name="adj1" fmla="val 50000"/>
                <a:gd name="adj2" fmla="val 62253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73;p38">
              <a:extLst>
                <a:ext uri="{FF2B5EF4-FFF2-40B4-BE49-F238E27FC236}">
                  <a16:creationId xmlns:a16="http://schemas.microsoft.com/office/drawing/2014/main" id="{F052315F-4ECD-4EAB-A590-935F06E75E79}"/>
                </a:ext>
              </a:extLst>
            </p:cNvPr>
            <p:cNvSpPr/>
            <p:nvPr/>
          </p:nvSpPr>
          <p:spPr>
            <a:xfrm>
              <a:off x="7776300" y="2048400"/>
              <a:ext cx="1046700" cy="1046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74;p38">
              <a:extLst>
                <a:ext uri="{FF2B5EF4-FFF2-40B4-BE49-F238E27FC236}">
                  <a16:creationId xmlns:a16="http://schemas.microsoft.com/office/drawing/2014/main" id="{A226951E-672C-4BAA-8787-C24486405551}"/>
                </a:ext>
              </a:extLst>
            </p:cNvPr>
            <p:cNvSpPr/>
            <p:nvPr/>
          </p:nvSpPr>
          <p:spPr>
            <a:xfrm>
              <a:off x="7893354" y="2165455"/>
              <a:ext cx="812700" cy="812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oogle Shape;275;p38">
            <a:extLst>
              <a:ext uri="{FF2B5EF4-FFF2-40B4-BE49-F238E27FC236}">
                <a16:creationId xmlns:a16="http://schemas.microsoft.com/office/drawing/2014/main" id="{A938D87D-90A0-407F-9D39-E0E8939DE2C4}"/>
              </a:ext>
            </a:extLst>
          </p:cNvPr>
          <p:cNvGrpSpPr/>
          <p:nvPr/>
        </p:nvGrpSpPr>
        <p:grpSpPr>
          <a:xfrm>
            <a:off x="4955236" y="3322663"/>
            <a:ext cx="3610253" cy="1185208"/>
            <a:chOff x="5599475" y="3251875"/>
            <a:chExt cx="3223525" cy="1128000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80" name="Google Shape;276;p38">
              <a:extLst>
                <a:ext uri="{FF2B5EF4-FFF2-40B4-BE49-F238E27FC236}">
                  <a16:creationId xmlns:a16="http://schemas.microsoft.com/office/drawing/2014/main" id="{2AC5E68D-E1C0-4198-8699-11AAD661BDA5}"/>
                </a:ext>
              </a:extLst>
            </p:cNvPr>
            <p:cNvSpPr/>
            <p:nvPr/>
          </p:nvSpPr>
          <p:spPr>
            <a:xfrm>
              <a:off x="5599475" y="3251875"/>
              <a:ext cx="2562900" cy="1128000"/>
            </a:xfrm>
            <a:prstGeom prst="leftArrow">
              <a:avLst>
                <a:gd name="adj1" fmla="val 50000"/>
                <a:gd name="adj2" fmla="val 62253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77;p38">
              <a:extLst>
                <a:ext uri="{FF2B5EF4-FFF2-40B4-BE49-F238E27FC236}">
                  <a16:creationId xmlns:a16="http://schemas.microsoft.com/office/drawing/2014/main" id="{60FAC82A-6684-44DD-9169-F7C290397F3B}"/>
                </a:ext>
              </a:extLst>
            </p:cNvPr>
            <p:cNvSpPr/>
            <p:nvPr/>
          </p:nvSpPr>
          <p:spPr>
            <a:xfrm>
              <a:off x="7776300" y="3292581"/>
              <a:ext cx="1046700" cy="1046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78;p38">
              <a:extLst>
                <a:ext uri="{FF2B5EF4-FFF2-40B4-BE49-F238E27FC236}">
                  <a16:creationId xmlns:a16="http://schemas.microsoft.com/office/drawing/2014/main" id="{735A0565-AEF6-43BE-BE6F-A13501026C42}"/>
                </a:ext>
              </a:extLst>
            </p:cNvPr>
            <p:cNvSpPr/>
            <p:nvPr/>
          </p:nvSpPr>
          <p:spPr>
            <a:xfrm>
              <a:off x="7893354" y="3409636"/>
              <a:ext cx="812700" cy="8127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" name="Google Shape;280;p38">
            <a:extLst>
              <a:ext uri="{FF2B5EF4-FFF2-40B4-BE49-F238E27FC236}">
                <a16:creationId xmlns:a16="http://schemas.microsoft.com/office/drawing/2014/main" id="{4340BC17-26CF-4514-A41E-CF7315684EA4}"/>
              </a:ext>
            </a:extLst>
          </p:cNvPr>
          <p:cNvSpPr txBox="1">
            <a:spLocks/>
          </p:cNvSpPr>
          <p:nvPr/>
        </p:nvSpPr>
        <p:spPr>
          <a:xfrm>
            <a:off x="7897250" y="2189450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4888DE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02</a:t>
            </a:r>
          </a:p>
        </p:txBody>
      </p:sp>
      <p:sp>
        <p:nvSpPr>
          <p:cNvPr id="84" name="Google Shape;281;p38">
            <a:extLst>
              <a:ext uri="{FF2B5EF4-FFF2-40B4-BE49-F238E27FC236}">
                <a16:creationId xmlns:a16="http://schemas.microsoft.com/office/drawing/2014/main" id="{3AB64859-9D79-48A8-8D3A-325BDC27B98D}"/>
              </a:ext>
            </a:extLst>
          </p:cNvPr>
          <p:cNvSpPr txBox="1">
            <a:spLocks/>
          </p:cNvSpPr>
          <p:nvPr/>
        </p:nvSpPr>
        <p:spPr>
          <a:xfrm>
            <a:off x="7897250" y="3458738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0043C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03</a:t>
            </a:r>
          </a:p>
        </p:txBody>
      </p:sp>
      <p:sp>
        <p:nvSpPr>
          <p:cNvPr id="85" name="Google Shape;282;p38">
            <a:extLst>
              <a:ext uri="{FF2B5EF4-FFF2-40B4-BE49-F238E27FC236}">
                <a16:creationId xmlns:a16="http://schemas.microsoft.com/office/drawing/2014/main" id="{0CF6459C-3AE3-4A2A-8159-CBF3B6BF5C31}"/>
              </a:ext>
            </a:extLst>
          </p:cNvPr>
          <p:cNvSpPr txBox="1">
            <a:spLocks/>
          </p:cNvSpPr>
          <p:nvPr/>
        </p:nvSpPr>
        <p:spPr>
          <a:xfrm>
            <a:off x="7897250" y="965675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90CCFA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4D1EDC-551C-4D02-97C3-D7A959B4BA9F}"/>
              </a:ext>
            </a:extLst>
          </p:cNvPr>
          <p:cNvSpPr txBox="1"/>
          <p:nvPr/>
        </p:nvSpPr>
        <p:spPr>
          <a:xfrm>
            <a:off x="5368092" y="1146761"/>
            <a:ext cx="293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Brings in more investors</a:t>
            </a:r>
          </a:p>
          <a:p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221C0BE-F17A-4588-9480-D205BF72993A}"/>
              </a:ext>
            </a:extLst>
          </p:cNvPr>
          <p:cNvSpPr txBox="1"/>
          <p:nvPr/>
        </p:nvSpPr>
        <p:spPr>
          <a:xfrm>
            <a:off x="5623475" y="238189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Budgets business expenses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7223A9-3636-4807-896B-19308D74986D}"/>
              </a:ext>
            </a:extLst>
          </p:cNvPr>
          <p:cNvSpPr txBox="1"/>
          <p:nvPr/>
        </p:nvSpPr>
        <p:spPr>
          <a:xfrm>
            <a:off x="5623475" y="3742299"/>
            <a:ext cx="49301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 Justifies hiring decisions</a:t>
            </a:r>
          </a:p>
        </p:txBody>
      </p:sp>
      <p:sp>
        <p:nvSpPr>
          <p:cNvPr id="89" name="Google Shape;282;p38">
            <a:extLst>
              <a:ext uri="{FF2B5EF4-FFF2-40B4-BE49-F238E27FC236}">
                <a16:creationId xmlns:a16="http://schemas.microsoft.com/office/drawing/2014/main" id="{BC23C468-A48C-4954-A453-A373C63B6751}"/>
              </a:ext>
            </a:extLst>
          </p:cNvPr>
          <p:cNvSpPr txBox="1">
            <a:spLocks/>
          </p:cNvSpPr>
          <p:nvPr/>
        </p:nvSpPr>
        <p:spPr>
          <a:xfrm>
            <a:off x="362464" y="1042450"/>
            <a:ext cx="804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3300"/>
              <a:buFont typeface="Montserrat ExtraBold"/>
              <a:buNone/>
              <a:defRPr sz="2400" b="0" i="0" u="none" strike="noStrike" cap="none">
                <a:solidFill>
                  <a:srgbClr val="2020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algn="ctr"/>
            <a:r>
              <a:rPr lang="es" sz="3600">
                <a:solidFill>
                  <a:srgbClr val="90CCFA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01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DE0FDF4-A7FD-49FB-929B-B37CFA316785}"/>
              </a:ext>
            </a:extLst>
          </p:cNvPr>
          <p:cNvSpPr txBox="1"/>
          <p:nvPr/>
        </p:nvSpPr>
        <p:spPr>
          <a:xfrm>
            <a:off x="1309766" y="1206572"/>
            <a:ext cx="5276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Executes strategic planning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13DA60F-F84B-4024-A194-4C7A0C2B7226}"/>
              </a:ext>
            </a:extLst>
          </p:cNvPr>
          <p:cNvSpPr txBox="1"/>
          <p:nvPr/>
        </p:nvSpPr>
        <p:spPr>
          <a:xfrm>
            <a:off x="1118074" y="2380287"/>
            <a:ext cx="5276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 Improves production</a:t>
            </a:r>
          </a:p>
          <a:p>
            <a:pPr algn="l"/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 scheduling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F55014-3B80-4608-8C1F-DAEB59B5BA7E}"/>
              </a:ext>
            </a:extLst>
          </p:cNvPr>
          <p:cNvSpPr txBox="1"/>
          <p:nvPr/>
        </p:nvSpPr>
        <p:spPr>
          <a:xfrm>
            <a:off x="1156122" y="3801452"/>
            <a:ext cx="5276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>
                <a:solidFill>
                  <a:srgbClr val="585C5D"/>
                </a:solidFill>
                <a:effectLst/>
                <a:latin typeface="Lato"/>
              </a:rPr>
              <a:t> Sales and product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>
            <a:spLocks noGrp="1"/>
          </p:cNvSpPr>
          <p:nvPr>
            <p:ph type="title"/>
          </p:nvPr>
        </p:nvSpPr>
        <p:spPr>
          <a:xfrm>
            <a:off x="319235" y="182880"/>
            <a:ext cx="7498800" cy="6500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rgbClr val="00B050"/>
                </a:solidFill>
              </a:rPr>
              <a:t>4. RESULTS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7B1F8A8-54BB-49E5-B90D-D63659F05C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4612C-DDE0-438D-ADD6-B00A222BC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1" y="507890"/>
            <a:ext cx="5651500" cy="246227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0CB6099-88F0-42D2-8961-8B63B1237567}"/>
              </a:ext>
            </a:extLst>
          </p:cNvPr>
          <p:cNvSpPr/>
          <p:nvPr/>
        </p:nvSpPr>
        <p:spPr>
          <a:xfrm rot="5400000">
            <a:off x="1121298" y="1984060"/>
            <a:ext cx="378680" cy="167641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DF48AB9-0014-49E6-B0C5-004F0ABD51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65CC05-2B0B-49CC-853D-1E02195EF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671" y="2876550"/>
            <a:ext cx="5419089" cy="213973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E1FF4893-E315-4362-BEA9-49FDFA81FFE3}"/>
              </a:ext>
            </a:extLst>
          </p:cNvPr>
          <p:cNvSpPr/>
          <p:nvPr/>
        </p:nvSpPr>
        <p:spPr>
          <a:xfrm>
            <a:off x="628651" y="1287780"/>
            <a:ext cx="1409700" cy="480060"/>
          </a:xfrm>
          <a:prstGeom prst="ellips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Raw data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7565-C3E2-48DF-9254-E4D55F23B328}"/>
              </a:ext>
            </a:extLst>
          </p:cNvPr>
          <p:cNvSpPr/>
          <p:nvPr/>
        </p:nvSpPr>
        <p:spPr>
          <a:xfrm>
            <a:off x="672465" y="2386012"/>
            <a:ext cx="1276349" cy="676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Machine Learning</a:t>
            </a:r>
            <a:endParaRPr lang="en-US"/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467DA04A-3DF2-4A43-A664-BFB579B48032}"/>
              </a:ext>
            </a:extLst>
          </p:cNvPr>
          <p:cNvSpPr/>
          <p:nvPr/>
        </p:nvSpPr>
        <p:spPr>
          <a:xfrm rot="5400000">
            <a:off x="1442828" y="2972218"/>
            <a:ext cx="650022" cy="1051560"/>
          </a:xfrm>
          <a:prstGeom prst="bentUpArrow">
            <a:avLst>
              <a:gd name="adj1" fmla="val 16048"/>
              <a:gd name="adj2" fmla="val 12558"/>
              <a:gd name="adj3" fmla="val 21485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"/>
          <p:cNvSpPr txBox="1">
            <a:spLocks noGrp="1"/>
          </p:cNvSpPr>
          <p:nvPr>
            <p:ph type="title"/>
          </p:nvPr>
        </p:nvSpPr>
        <p:spPr>
          <a:xfrm>
            <a:off x="319235" y="182880"/>
            <a:ext cx="7498800" cy="6500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>
                <a:solidFill>
                  <a:srgbClr val="00B050"/>
                </a:solidFill>
              </a:rPr>
              <a:t>4.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815943-F316-408D-A66E-64B37F3EE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925830"/>
            <a:ext cx="7791450" cy="29718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716361-E32C-471E-A489-E5D2AF20F074}"/>
              </a:ext>
            </a:extLst>
          </p:cNvPr>
          <p:cNvSpPr/>
          <p:nvPr/>
        </p:nvSpPr>
        <p:spPr>
          <a:xfrm>
            <a:off x="6286500" y="769620"/>
            <a:ext cx="1043940" cy="3284220"/>
          </a:xfrm>
          <a:prstGeom prst="roundRect">
            <a:avLst>
              <a:gd name="adj" fmla="val 10667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503CDE-2FBE-44BC-A132-B5964C7251FD}"/>
              </a:ext>
            </a:extLst>
          </p:cNvPr>
          <p:cNvSpPr/>
          <p:nvPr/>
        </p:nvSpPr>
        <p:spPr>
          <a:xfrm>
            <a:off x="3253740" y="769620"/>
            <a:ext cx="784860" cy="3284220"/>
          </a:xfrm>
          <a:prstGeom prst="roundRect">
            <a:avLst>
              <a:gd name="adj" fmla="val 10667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77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DFBC1-7D5F-4FF1-A491-7EF1678515F9}"/>
              </a:ext>
            </a:extLst>
          </p:cNvPr>
          <p:cNvSpPr/>
          <p:nvPr/>
        </p:nvSpPr>
        <p:spPr>
          <a:xfrm>
            <a:off x="1001156" y="2110085"/>
            <a:ext cx="7141699" cy="7848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4500" b="1" cap="none" spc="0">
                <a:ln/>
                <a:solidFill>
                  <a:schemeClr val="accent4"/>
                </a:solidFill>
                <a:effectLst/>
              </a:rPr>
              <a:t>Thank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09062910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u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205</Words>
  <Application>Microsoft Office PowerPoint</Application>
  <PresentationFormat>On-screen Show (16:9)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Lato</vt:lpstr>
      <vt:lpstr>Arial</vt:lpstr>
      <vt:lpstr>Garamond</vt:lpstr>
      <vt:lpstr>Montserrat</vt:lpstr>
      <vt:lpstr>Arvo</vt:lpstr>
      <vt:lpstr>Quicksand Light</vt:lpstr>
      <vt:lpstr>Montserrat SemiBold</vt:lpstr>
      <vt:lpstr>Times New Roman</vt:lpstr>
      <vt:lpstr>Spectral Light</vt:lpstr>
      <vt:lpstr>Montserrat ExtraBold</vt:lpstr>
      <vt:lpstr>Proxima Nova Extrabold</vt:lpstr>
      <vt:lpstr>Elegant Blue</vt:lpstr>
      <vt:lpstr>REVENUE PREDICTION PROJECT</vt:lpstr>
      <vt:lpstr>Agenda</vt:lpstr>
      <vt:lpstr>1. INTRODUCTION</vt:lpstr>
      <vt:lpstr>The slide title goes here!</vt:lpstr>
      <vt:lpstr>Data Mining</vt:lpstr>
      <vt:lpstr>PowerPoint Presentation</vt:lpstr>
      <vt:lpstr>2. BENEFITS</vt:lpstr>
      <vt:lpstr>Revenue   Prediction</vt:lpstr>
      <vt:lpstr>4. RESULTS</vt:lpstr>
      <vt:lpstr>4. RESULTS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PREDICTION PROJECT</dc:title>
  <cp:lastModifiedBy>Giang Vo</cp:lastModifiedBy>
  <cp:revision>57</cp:revision>
  <dcterms:modified xsi:type="dcterms:W3CDTF">2021-01-08T05:25:56Z</dcterms:modified>
</cp:coreProperties>
</file>